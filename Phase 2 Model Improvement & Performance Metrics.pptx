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Lato"/>
      <p:regular r:id="rId9"/>
      <p:bold r:id="rId10"/>
      <p:italic r:id="rId11"/>
      <p:boldItalic r:id="rId12"/>
    </p:embeddedFont>
    <p:embeddedFont>
      <p:font typeface="Poppins"/>
      <p:regular r:id="rId13"/>
      <p:bold r:id="rId14"/>
      <p:italic r:id="rId15"/>
      <p:boldItalic r:id="rId16"/>
    </p:embeddedFont>
    <p:embeddedFont>
      <p:font typeface="Poppins SemiBol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boldItalic.fntdata"/><Relationship Id="rId11" Type="http://schemas.openxmlformats.org/officeDocument/2006/relationships/font" Target="fonts/Lato-italic.fntdata"/><Relationship Id="rId10" Type="http://schemas.openxmlformats.org/officeDocument/2006/relationships/font" Target="fonts/Lato-bold.fntdata"/><Relationship Id="rId13" Type="http://schemas.openxmlformats.org/officeDocument/2006/relationships/font" Target="fonts/Poppins-regular.fntdata"/><Relationship Id="rId12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regular.fntdata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PoppinsSemiBold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SemiBold-italic.fntdata"/><Relationship Id="rId6" Type="http://schemas.openxmlformats.org/officeDocument/2006/relationships/slide" Target="slides/slide1.xml"/><Relationship Id="rId18" Type="http://schemas.openxmlformats.org/officeDocument/2006/relationships/font" Target="fonts/Poppi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10" Type="http://schemas.openxmlformats.org/officeDocument/2006/relationships/image" Target="../media/image11.png"/><Relationship Id="rId9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11" Type="http://schemas.openxmlformats.org/officeDocument/2006/relationships/image" Target="../media/image22.png"/><Relationship Id="rId10" Type="http://schemas.openxmlformats.org/officeDocument/2006/relationships/image" Target="../media/image13.png"/><Relationship Id="rId9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20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93864" l="0" r="0" t="0"/>
          <a:stretch/>
        </p:blipFill>
        <p:spPr>
          <a:xfrm>
            <a:off x="0" y="0"/>
            <a:ext cx="12192000" cy="42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400" y="6191443"/>
            <a:ext cx="9144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08609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125" y="5798350"/>
            <a:ext cx="46971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62000" y="571500"/>
            <a:ext cx="11201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70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Iterative Refinement via Investigator Feedback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762000" y="1171575"/>
            <a:ext cx="6896100" cy="5430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000125" y="1314450"/>
            <a:ext cx="6419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703C"/>
                </a:solidFill>
                <a:latin typeface="Lato"/>
                <a:ea typeface="Lato"/>
                <a:cs typeface="Lato"/>
                <a:sym typeface="Lato"/>
              </a:rPr>
              <a:t>The model improves through structured collaboration with the FIU.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762000" y="1171575"/>
            <a:ext cx="47700" cy="543000"/>
          </a:xfrm>
          <a:prstGeom prst="rect">
            <a:avLst/>
          </a:prstGeom>
          <a:solidFill>
            <a:srgbClr val="008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2218134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190625" y="2095500"/>
            <a:ext cx="46197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Phase 1 used internal data for initial model development.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190625" y="2973585"/>
            <a:ext cx="46197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Phase 2 samples ~500 cases for independent investigator validation.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190625" y="3851671"/>
            <a:ext cx="46197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Expert feedback provides validated labels for model retraining.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190625" y="4729757"/>
            <a:ext cx="46197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Structured loop improves detection accuracy and reduces false positives.</a:t>
            </a:r>
            <a:endParaRPr/>
          </a:p>
        </p:txBody>
      </p:sp>
      <p:pic>
        <p:nvPicPr>
          <p:cNvPr descr="image.png" id="97" name="Google Shape;9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9820" y="5904973"/>
            <a:ext cx="16553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1336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301168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388977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476785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4"/>
          <p:cNvPicPr preferRelativeResize="0"/>
          <p:nvPr/>
        </p:nvPicPr>
        <p:blipFill rotWithShape="1">
          <a:blip r:embed="rId3">
            <a:alphaModFix/>
          </a:blip>
          <a:srcRect b="95139" l="0" r="0" t="0"/>
          <a:stretch/>
        </p:blipFill>
        <p:spPr>
          <a:xfrm>
            <a:off x="0" y="0"/>
            <a:ext cx="12192000" cy="333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775" y="6354027"/>
            <a:ext cx="9144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246921"/>
            <a:ext cx="33654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3200" y="2246921"/>
            <a:ext cx="33654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2246921"/>
            <a:ext cx="3365599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762000" y="571500"/>
            <a:ext cx="11201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70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Measuring Detection Effectiveness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762000" y="1257600"/>
            <a:ext cx="4667400" cy="5430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000125" y="1400475"/>
            <a:ext cx="419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703C"/>
                </a:solidFill>
                <a:latin typeface="Lato"/>
                <a:ea typeface="Lato"/>
                <a:cs typeface="Lato"/>
                <a:sym typeface="Lato"/>
              </a:rPr>
              <a:t>Focus: Is the model right, stable, and useful?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762000" y="1257600"/>
            <a:ext cx="47700" cy="543000"/>
          </a:xfrm>
          <a:prstGeom prst="rect">
            <a:avLst/>
          </a:prstGeom>
          <a:solidFill>
            <a:srgbClr val="008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057275" y="3332771"/>
            <a:ext cx="291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03C"/>
                </a:solidFill>
                <a:latin typeface="Poppins"/>
                <a:ea typeface="Poppins"/>
                <a:cs typeface="Poppins"/>
                <a:sym typeface="Poppins"/>
              </a:rPr>
              <a:t>Model Development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57275" y="3856646"/>
            <a:ext cx="277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AUC-PR and KS separation statistics ensure initial model quality.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57275" y="4561496"/>
            <a:ext cx="277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"Is the model finding the right signals?"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57275" y="5266346"/>
            <a:ext cx="27750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Statistical significance testing applied during comparisons.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4708475" y="3332771"/>
            <a:ext cx="291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03C"/>
                </a:solidFill>
                <a:latin typeface="Poppins"/>
                <a:ea typeface="Poppins"/>
                <a:cs typeface="Poppins"/>
                <a:sym typeface="Poppins"/>
              </a:rPr>
              <a:t>Stability Monitoring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4708475" y="3856646"/>
            <a:ext cx="277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Population Stability Index (PSI) monitors score distribution drift over time.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4708475" y="4818671"/>
            <a:ext cx="277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"Is the model still performing as expected?"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4708475" y="5523521"/>
            <a:ext cx="27750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Unlabeled data scoring allows for continuous drift detection.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359675" y="3332771"/>
            <a:ext cx="291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03C"/>
                </a:solidFill>
                <a:latin typeface="Poppins"/>
                <a:ea typeface="Poppins"/>
                <a:cs typeface="Poppins"/>
                <a:sym typeface="Poppins"/>
              </a:rPr>
              <a:t>Production Effectiveness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359675" y="4190021"/>
            <a:ext cx="277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Precision@N measures relevance of top-surfaced alerts for analysts.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8359675" y="4894871"/>
            <a:ext cx="277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"Are the alerts actually useful to analysts?"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359675" y="5599721"/>
            <a:ext cx="27750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Directly maps to operational efficiency and workload.</a:t>
            </a:r>
            <a:endParaRPr/>
          </a:p>
        </p:txBody>
      </p:sp>
      <p:pic>
        <p:nvPicPr>
          <p:cNvPr descr="image.png" id="127" name="Google Shape;12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6279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8475" y="26279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9675" y="2627921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5"/>
          <p:cNvPicPr preferRelativeResize="0"/>
          <p:nvPr/>
        </p:nvPicPr>
        <p:blipFill rotWithShape="1">
          <a:blip r:embed="rId3">
            <a:alphaModFix/>
          </a:blip>
          <a:srcRect b="93332" l="0" r="0" t="0"/>
          <a:stretch/>
        </p:blipFill>
        <p:spPr>
          <a:xfrm>
            <a:off x="0" y="0"/>
            <a:ext cx="12192000" cy="45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341400"/>
            <a:ext cx="9144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283875"/>
            <a:ext cx="106680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274475"/>
            <a:ext cx="106680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65075"/>
            <a:ext cx="106680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255675"/>
            <a:ext cx="106680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72037" y="2531525"/>
            <a:ext cx="1223962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72037" y="3522125"/>
            <a:ext cx="1223962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72037" y="4512725"/>
            <a:ext cx="1223962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72037" y="5503325"/>
            <a:ext cx="122396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762000" y="571500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0070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</a:t>
            </a:r>
            <a:r>
              <a:rPr b="0" i="0" lang="en-US" sz="3150" u="none" cap="none" strike="noStrike">
                <a:solidFill>
                  <a:srgbClr val="0070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Detection Examples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762000" y="1359950"/>
            <a:ext cx="5572200" cy="5430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1238325" y="1502825"/>
            <a:ext cx="509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56404"/>
                </a:solidFill>
                <a:latin typeface="Lato"/>
                <a:ea typeface="Lato"/>
                <a:cs typeface="Lato"/>
                <a:sym typeface="Lato"/>
              </a:rPr>
              <a:t>Indicators for review — not conclusions of activity.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762000" y="1359950"/>
            <a:ext cx="47700" cy="543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9205" y="1525106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1009650" y="2569625"/>
            <a:ext cx="36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"cocaine money"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6286500" y="2579150"/>
            <a:ext cx="4896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0703C"/>
                </a:solidFill>
                <a:latin typeface="Lato"/>
                <a:ea typeface="Lato"/>
                <a:cs typeface="Lato"/>
                <a:sym typeface="Lato"/>
              </a:rPr>
              <a:t> Direct substance reference; high-confidence keyword match. 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009650" y="3560225"/>
            <a:ext cx="36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"Payment for cost of MDMA"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286500" y="3569750"/>
            <a:ext cx="4896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0703C"/>
                </a:solidFill>
                <a:latin typeface="Lato"/>
                <a:ea typeface="Lato"/>
                <a:cs typeface="Lato"/>
                <a:sym typeface="Lato"/>
              </a:rPr>
              <a:t> Explicit controlled substance; transactional phrasing match. 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1009650" y="4550825"/>
            <a:ext cx="36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"You folks want to buy some heroin?"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6286500" y="4560350"/>
            <a:ext cx="4896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0703C"/>
                </a:solidFill>
                <a:latin typeface="Lato"/>
                <a:ea typeface="Lato"/>
                <a:cs typeface="Lato"/>
                <a:sym typeface="Lato"/>
              </a:rPr>
              <a:t> Solicitation language; semantic similarity to drug patterns. 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009650" y="5541425"/>
            <a:ext cx="36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"Fentanyl re-up"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6286500" y="5550950"/>
            <a:ext cx="4896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0703C"/>
                </a:solidFill>
                <a:latin typeface="Lato"/>
                <a:ea typeface="Lato"/>
                <a:cs typeface="Lato"/>
                <a:sym typeface="Lato"/>
              </a:rPr>
              <a:t> Specific resupply slang; contextual flagging for risk.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